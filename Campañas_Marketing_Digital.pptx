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306" r:id="rId8"/>
    <p:sldId id="305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B489E7-EF96-40D7-ACBA-CB6D9F344ADE}">
  <a:tblStyle styleId="{74B489E7-EF96-40D7-ACBA-CB6D9F344A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49"/>
    <p:restoredTop sz="94640"/>
  </p:normalViewPr>
  <p:slideViewPr>
    <p:cSldViewPr snapToGrid="0">
      <p:cViewPr varScale="1">
        <p:scale>
          <a:sx n="149" d="100"/>
          <a:sy n="149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E1D8034B-6107-AC99-AE48-2922D203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>
            <a:extLst>
              <a:ext uri="{FF2B5EF4-FFF2-40B4-BE49-F238E27FC236}">
                <a16:creationId xmlns:a16="http://schemas.microsoft.com/office/drawing/2014/main" id="{7466D26E-0B5B-D418-4577-1D293EE64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>
            <a:extLst>
              <a:ext uri="{FF2B5EF4-FFF2-40B4-BE49-F238E27FC236}">
                <a16:creationId xmlns:a16="http://schemas.microsoft.com/office/drawing/2014/main" id="{87F51C0C-4B49-D350-8F9C-12327BBEC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905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107aaa41fe9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107aaa41fe9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38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8"/>
          <p:cNvSpPr txBox="1">
            <a:spLocks noGrp="1"/>
          </p:cNvSpPr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0" name="Google Shape;330;p38"/>
          <p:cNvSpPr txBox="1">
            <a:spLocks noGrp="1"/>
          </p:cNvSpPr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2" name="Google Shape;332;p38"/>
          <p:cNvSpPr txBox="1">
            <a:spLocks noGrp="1"/>
          </p:cNvSpPr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8"/>
          <p:cNvSpPr txBox="1">
            <a:spLocks noGrp="1"/>
          </p:cNvSpPr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4" name="Google Shape;334;p38"/>
          <p:cNvSpPr txBox="1">
            <a:spLocks noGrp="1"/>
          </p:cNvSpPr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8"/>
          <p:cNvSpPr txBox="1">
            <a:spLocks noGrp="1"/>
          </p:cNvSpPr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6" name="Google Shape;336;p38"/>
          <p:cNvSpPr txBox="1">
            <a:spLocks noGrp="1"/>
          </p:cNvSpPr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5" r:id="rId9"/>
    <p:sldLayoutId id="2147483684" r:id="rId10"/>
    <p:sldLayoutId id="2147483697" r:id="rId11"/>
    <p:sldLayoutId id="2147483698" r:id="rId12"/>
    <p:sldLayoutId id="2147483699" r:id="rId13"/>
    <p:sldLayoutId id="214748370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165500" y="3011480"/>
            <a:ext cx="7064100" cy="786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2200"/>
              </a:lnSpc>
            </a:pPr>
            <a:r>
              <a:rPr lang="en-US" dirty="0" err="1">
                <a:solidFill>
                  <a:schemeClr val="accent6"/>
                </a:solidFill>
              </a:rPr>
              <a:t>Limpieza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procesamiento</a:t>
            </a:r>
            <a:r>
              <a:rPr lang="en-US" dirty="0">
                <a:solidFill>
                  <a:schemeClr val="accent6"/>
                </a:solidFill>
              </a:rPr>
              <a:t> y </a:t>
            </a:r>
            <a:r>
              <a:rPr lang="en-US" dirty="0" err="1">
                <a:solidFill>
                  <a:schemeClr val="accent6"/>
                </a:solidFill>
              </a:rPr>
              <a:t>generación</a:t>
            </a:r>
            <a:r>
              <a:rPr lang="en-US" dirty="0">
                <a:solidFill>
                  <a:schemeClr val="accent6"/>
                </a:solidFill>
              </a:rPr>
              <a:t> de insights con Python</a:t>
            </a:r>
          </a:p>
          <a:p>
            <a:pPr marL="0" indent="0">
              <a:lnSpc>
                <a:spcPts val="2200"/>
              </a:lnSpc>
            </a:pPr>
            <a:r>
              <a:rPr lang="en-US" dirty="0">
                <a:solidFill>
                  <a:schemeClr val="accent6"/>
                </a:solidFill>
              </a:rPr>
              <a:t>para </a:t>
            </a:r>
            <a:r>
              <a:rPr lang="en-US" dirty="0" err="1">
                <a:solidFill>
                  <a:schemeClr val="accent6"/>
                </a:solidFill>
              </a:rPr>
              <a:t>optimizar</a:t>
            </a:r>
            <a:r>
              <a:rPr lang="en-US" dirty="0">
                <a:solidFill>
                  <a:schemeClr val="accent6"/>
                </a:solidFill>
              </a:rPr>
              <a:t> la </a:t>
            </a:r>
            <a:r>
              <a:rPr lang="en-US" dirty="0" err="1">
                <a:solidFill>
                  <a:schemeClr val="accent6"/>
                </a:solidFill>
              </a:rPr>
              <a:t>inversión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publicitaria</a:t>
            </a:r>
            <a:endParaRPr lang="en-US" dirty="0">
              <a:solidFill>
                <a:schemeClr val="accent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6D291AFC-214C-810E-F266-6D7C16CC9289}"/>
              </a:ext>
            </a:extLst>
          </p:cNvPr>
          <p:cNvSpPr/>
          <p:nvPr/>
        </p:nvSpPr>
        <p:spPr>
          <a:xfrm>
            <a:off x="1320800" y="434340"/>
            <a:ext cx="240453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  <a:latin typeface="Montserrat" pitchFamily="2" charset="77"/>
              </a:rPr>
              <a:t>TECHNOLOCHICAS </a:t>
            </a:r>
            <a:endParaRPr lang="en-US" sz="1400" dirty="0">
              <a:solidFill>
                <a:schemeClr val="accent6"/>
              </a:solidFill>
              <a:latin typeface="Montserrat" pitchFamily="2" charset="7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D0F66AB-132B-7F13-EEE3-53EE0B093EE8}"/>
              </a:ext>
            </a:extLst>
          </p:cNvPr>
          <p:cNvSpPr/>
          <p:nvPr/>
        </p:nvSpPr>
        <p:spPr>
          <a:xfrm>
            <a:off x="1039950" y="4071292"/>
            <a:ext cx="46002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Montserrat" pitchFamily="2" charset="77"/>
              </a:rPr>
              <a:t>Proyecto final · Procesamiento de Datos con Python</a:t>
            </a: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1BBCD65-AF00-DA4F-5435-F8D56E269BC0}"/>
              </a:ext>
            </a:extLst>
          </p:cNvPr>
          <p:cNvSpPr/>
          <p:nvPr/>
        </p:nvSpPr>
        <p:spPr>
          <a:xfrm>
            <a:off x="1039950" y="4389120"/>
            <a:ext cx="35320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Montserrat" pitchFamily="2" charset="77"/>
              </a:rPr>
              <a:t>Dayhana Erendida Quintero Córdova</a:t>
            </a:r>
            <a:endParaRPr lang="en-US" sz="1300" dirty="0">
              <a:solidFill>
                <a:schemeClr val="accent6"/>
              </a:solidFill>
              <a:latin typeface="Montserrat" pitchFamily="2" charset="77"/>
            </a:endParaRP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B938AE55-86F4-7593-80A1-41F377920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950" y="946921"/>
            <a:ext cx="7064100" cy="2109057"/>
          </a:xfrm>
        </p:spPr>
        <p:txBody>
          <a:bodyPr/>
          <a:lstStyle/>
          <a:p>
            <a:pPr marL="0" indent="0">
              <a:lnSpc>
                <a:spcPts val="4600"/>
              </a:lnSpc>
            </a:pPr>
            <a:r>
              <a:rPr lang="en-US" sz="6600" b="1" dirty="0" err="1">
                <a:solidFill>
                  <a:schemeClr val="accent6"/>
                </a:solidFill>
              </a:rPr>
              <a:t>Análisis</a:t>
            </a:r>
            <a:r>
              <a:rPr lang="en-US" sz="6600" b="1" dirty="0">
                <a:solidFill>
                  <a:schemeClr val="accent6"/>
                </a:solidFill>
              </a:rPr>
              <a:t> de </a:t>
            </a:r>
            <a:r>
              <a:rPr lang="en-US" sz="6600" b="1" dirty="0" err="1">
                <a:solidFill>
                  <a:schemeClr val="accent6"/>
                </a:solidFill>
              </a:rPr>
              <a:t>Campañas</a:t>
            </a:r>
            <a:r>
              <a:rPr lang="en-US" sz="6600" b="1" dirty="0">
                <a:solidFill>
                  <a:schemeClr val="accent6"/>
                </a:solidFill>
              </a:rPr>
              <a:t> de</a:t>
            </a:r>
            <a:br>
              <a:rPr lang="en-US" sz="6600" dirty="0">
                <a:solidFill>
                  <a:schemeClr val="accent6"/>
                </a:solidFill>
              </a:rPr>
            </a:br>
            <a:r>
              <a:rPr lang="en-US" sz="6600" b="1" dirty="0">
                <a:solidFill>
                  <a:schemeClr val="accent6"/>
                </a:solidFill>
              </a:rPr>
              <a:t>Marketing Digital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</a:t>
            </a:r>
            <a:r>
              <a:rPr lang="en" dirty="0" err="1"/>
              <a:t>problemática</a:t>
            </a:r>
            <a:endParaRPr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7A3241-E90C-424F-CBAA-8ECC5A358988}"/>
              </a:ext>
            </a:extLst>
          </p:cNvPr>
          <p:cNvSpPr/>
          <p:nvPr/>
        </p:nvSpPr>
        <p:spPr>
          <a:xfrm>
            <a:off x="640080" y="1417320"/>
            <a:ext cx="3373120" cy="3151405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AAD4D2-B84B-AB53-68A4-B9C8B3877EB0}"/>
              </a:ext>
            </a:extLst>
          </p:cNvPr>
          <p:cNvSpPr/>
          <p:nvPr/>
        </p:nvSpPr>
        <p:spPr>
          <a:xfrm>
            <a:off x="713225" y="1446267"/>
            <a:ext cx="2958877" cy="257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Montserrat" pitchFamily="2" charset="77"/>
              </a:rPr>
              <a:t>Contexto</a:t>
            </a:r>
            <a:endParaRPr lang="en-US" sz="1600" dirty="0">
              <a:solidFill>
                <a:schemeClr val="accent6"/>
              </a:solidFill>
              <a:latin typeface="Montserrat" pitchFamily="2" charset="7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67B65B-A800-DC9B-0D22-F6ED084674DC}"/>
              </a:ext>
            </a:extLst>
          </p:cNvPr>
          <p:cNvSpPr/>
          <p:nvPr/>
        </p:nvSpPr>
        <p:spPr>
          <a:xfrm>
            <a:off x="817612" y="1820269"/>
            <a:ext cx="3018055" cy="2508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Montserrat" pitchFamily="2" charset="77"/>
              </a:rPr>
              <a:t>Una agencia de publicidad gestiona campañas para múltiples clientes y plataformas (Facebook, Google, Instagram, TikTok, LinkedIn, YouTube). Los reportes llegan con formatos inconsistentes, duplicados y datos faltantes.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611E70-DE2C-D024-F922-EA1762D7C5E3}"/>
              </a:ext>
            </a:extLst>
          </p:cNvPr>
          <p:cNvSpPr/>
          <p:nvPr/>
        </p:nvSpPr>
        <p:spPr>
          <a:xfrm>
            <a:off x="5071622" y="1417320"/>
            <a:ext cx="3432298" cy="3151405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25CB63-73FD-CDDC-57CB-6B18F2380CCF}"/>
              </a:ext>
            </a:extLst>
          </p:cNvPr>
          <p:cNvSpPr/>
          <p:nvPr/>
        </p:nvSpPr>
        <p:spPr>
          <a:xfrm>
            <a:off x="5189982" y="1469813"/>
            <a:ext cx="3077232" cy="257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Montserrat" pitchFamily="2" charset="77"/>
              </a:rPr>
              <a:t>Objetivo del proyecto</a:t>
            </a:r>
            <a:endParaRPr lang="en-US" sz="1600" dirty="0">
              <a:solidFill>
                <a:schemeClr val="accent6"/>
              </a:solidFill>
              <a:latin typeface="Montserrat" pitchFamily="2" charset="7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1472B7-E2CA-273D-D44A-40FA848A5848}"/>
              </a:ext>
            </a:extLst>
          </p:cNvPr>
          <p:cNvSpPr/>
          <p:nvPr/>
        </p:nvSpPr>
        <p:spPr>
          <a:xfrm>
            <a:off x="5130802" y="1598442"/>
            <a:ext cx="3077232" cy="2508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Montserrat" pitchFamily="2" charset="77"/>
              </a:rPr>
              <a:t>Limpiar y procesar el histórico de campañas, calcular métricas clave (CTR, tasa de conversión, CPA y ROAS) y generar insights que apoyen decisiones de inversión publicitaria.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704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Los </a:t>
            </a:r>
            <a:r>
              <a:rPr lang="en" dirty="0" err="1"/>
              <a:t>datos</a:t>
            </a:r>
            <a:r>
              <a:rPr lang="en" dirty="0"/>
              <a:t>: de crudos a </a:t>
            </a:r>
            <a:r>
              <a:rPr lang="en" dirty="0" err="1"/>
              <a:t>confiables</a:t>
            </a:r>
            <a:endParaRPr dirty="0"/>
          </a:p>
        </p:txBody>
      </p:sp>
      <p:sp>
        <p:nvSpPr>
          <p:cNvPr id="501" name="Google Shape;501;p62"/>
          <p:cNvSpPr txBox="1">
            <a:spLocks noGrp="1"/>
          </p:cNvSpPr>
          <p:nvPr>
            <p:ph type="subTitle" idx="3"/>
          </p:nvPr>
        </p:nvSpPr>
        <p:spPr>
          <a:xfrm>
            <a:off x="0" y="2180031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Filas </a:t>
            </a:r>
            <a:r>
              <a:rPr lang="en" sz="2000" dirty="0" err="1"/>
              <a:t>duplicadas</a:t>
            </a:r>
            <a:endParaRPr sz="2000" dirty="0"/>
          </a:p>
        </p:txBody>
      </p:sp>
      <p:sp>
        <p:nvSpPr>
          <p:cNvPr id="502" name="Google Shape;502;p62"/>
          <p:cNvSpPr txBox="1">
            <a:spLocks noGrp="1"/>
          </p:cNvSpPr>
          <p:nvPr>
            <p:ph type="subTitle" idx="1"/>
          </p:nvPr>
        </p:nvSpPr>
        <p:spPr>
          <a:xfrm>
            <a:off x="4646569" y="2109772"/>
            <a:ext cx="1900589" cy="7109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err="1"/>
              <a:t>Formatos</a:t>
            </a:r>
            <a:r>
              <a:rPr lang="en" sz="2000" dirty="0"/>
              <a:t> de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/>
              <a:t>f</a:t>
            </a:r>
            <a:r>
              <a:rPr lang="en" sz="2000" dirty="0" err="1"/>
              <a:t>echa</a:t>
            </a:r>
            <a:r>
              <a:rPr lang="en" sz="2000" dirty="0"/>
              <a:t> </a:t>
            </a:r>
            <a:r>
              <a:rPr lang="en" sz="2000" dirty="0" err="1"/>
              <a:t>distintos</a:t>
            </a:r>
            <a:endParaRPr sz="2000" dirty="0"/>
          </a:p>
        </p:txBody>
      </p:sp>
      <p:sp>
        <p:nvSpPr>
          <p:cNvPr id="505" name="Google Shape;505;p62"/>
          <p:cNvSpPr txBox="1">
            <a:spLocks noGrp="1"/>
          </p:cNvSpPr>
          <p:nvPr>
            <p:ph type="subTitle" idx="5"/>
          </p:nvPr>
        </p:nvSpPr>
        <p:spPr>
          <a:xfrm>
            <a:off x="6862438" y="2120734"/>
            <a:ext cx="2077024" cy="6297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err="1"/>
              <a:t>Gastos</a:t>
            </a:r>
            <a:r>
              <a:rPr lang="en" sz="2000" dirty="0"/>
              <a:t> </a:t>
            </a:r>
            <a:r>
              <a:rPr lang="en" sz="2000" dirty="0" err="1"/>
              <a:t>negativos</a:t>
            </a:r>
            <a:endParaRPr lang="en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/>
              <a:t>p</a:t>
            </a:r>
            <a:r>
              <a:rPr lang="en" sz="2000" dirty="0"/>
              <a:t>or error</a:t>
            </a:r>
            <a:endParaRPr sz="2000" dirty="0"/>
          </a:p>
        </p:txBody>
      </p:sp>
      <p:sp>
        <p:nvSpPr>
          <p:cNvPr id="507" name="Google Shape;507;p62"/>
          <p:cNvSpPr txBox="1">
            <a:spLocks noGrp="1"/>
          </p:cNvSpPr>
          <p:nvPr>
            <p:ph type="subTitle" idx="7"/>
          </p:nvPr>
        </p:nvSpPr>
        <p:spPr>
          <a:xfrm>
            <a:off x="2322429" y="2180031"/>
            <a:ext cx="2040276" cy="5704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Valores </a:t>
            </a:r>
            <a:r>
              <a:rPr lang="en" sz="2000" dirty="0" err="1"/>
              <a:t>nulos</a:t>
            </a:r>
            <a:endParaRPr lang="en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err="1"/>
              <a:t>totales</a:t>
            </a:r>
            <a:endParaRPr sz="2000" dirty="0"/>
          </a:p>
        </p:txBody>
      </p:sp>
      <p:sp>
        <p:nvSpPr>
          <p:cNvPr id="509" name="Google Shape;509;p62"/>
          <p:cNvSpPr txBox="1">
            <a:spLocks noGrp="1"/>
          </p:cNvSpPr>
          <p:nvPr>
            <p:ph type="title" idx="9"/>
          </p:nvPr>
        </p:nvSpPr>
        <p:spPr>
          <a:xfrm>
            <a:off x="536017" y="1550330"/>
            <a:ext cx="1199583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300</a:t>
            </a:r>
            <a:endParaRPr sz="3600" dirty="0"/>
          </a:p>
        </p:txBody>
      </p:sp>
      <p:sp>
        <p:nvSpPr>
          <p:cNvPr id="510" name="Google Shape;510;p62"/>
          <p:cNvSpPr txBox="1">
            <a:spLocks noGrp="1"/>
          </p:cNvSpPr>
          <p:nvPr>
            <p:ph type="title" idx="13"/>
          </p:nvPr>
        </p:nvSpPr>
        <p:spPr>
          <a:xfrm>
            <a:off x="5166387" y="156912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3</a:t>
            </a:r>
            <a:endParaRPr sz="3600" dirty="0"/>
          </a:p>
        </p:txBody>
      </p:sp>
      <p:sp>
        <p:nvSpPr>
          <p:cNvPr id="511" name="Google Shape;511;p62"/>
          <p:cNvSpPr txBox="1">
            <a:spLocks noGrp="1"/>
          </p:cNvSpPr>
          <p:nvPr>
            <p:ph type="title" idx="14"/>
          </p:nvPr>
        </p:nvSpPr>
        <p:spPr>
          <a:xfrm>
            <a:off x="2695417" y="1576660"/>
            <a:ext cx="1294301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1,850</a:t>
            </a:r>
            <a:endParaRPr sz="3600" dirty="0"/>
          </a:p>
        </p:txBody>
      </p:sp>
      <p:sp>
        <p:nvSpPr>
          <p:cNvPr id="512" name="Google Shape;512;p62"/>
          <p:cNvSpPr txBox="1">
            <a:spLocks noGrp="1"/>
          </p:cNvSpPr>
          <p:nvPr>
            <p:ph type="title" idx="15"/>
          </p:nvPr>
        </p:nvSpPr>
        <p:spPr>
          <a:xfrm>
            <a:off x="7381350" y="1576660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6</a:t>
            </a:r>
            <a:endParaRPr sz="3600" dirty="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CF2E8C99-F0DE-A0A6-AD4B-650FEABEAEB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72533" y="3196995"/>
            <a:ext cx="8382000" cy="14575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spcAft>
                <a:spcPts val="800"/>
              </a:spcAft>
              <a:buSzPct val="100000"/>
            </a:pPr>
            <a:r>
              <a:rPr lang="en-US" b="1" dirty="0" err="1">
                <a:solidFill>
                  <a:schemeClr val="accent6"/>
                </a:solidFill>
              </a:rPr>
              <a:t>Transformaciones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 err="1">
                <a:solidFill>
                  <a:schemeClr val="accent6"/>
                </a:solidFill>
              </a:rPr>
              <a:t>aplicadas</a:t>
            </a:r>
            <a:endParaRPr lang="en-US" b="1" dirty="0">
              <a:solidFill>
                <a:schemeClr val="accent6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accent6"/>
                </a:solidFill>
              </a:rPr>
              <a:t>Eliminación</a:t>
            </a:r>
            <a:r>
              <a:rPr lang="en-US" sz="1300" dirty="0">
                <a:solidFill>
                  <a:schemeClr val="accent6"/>
                </a:solidFill>
              </a:rPr>
              <a:t> de duplicados y normalización de texto (mayúsculas/espacios)</a:t>
            </a:r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Función personalizada para unificar 3 formatos de fecha distintos</a:t>
            </a:r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Imputación de nulos con mediana por plataforma; corrección de negativos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 txBox="1">
            <a:spLocks noGrp="1"/>
          </p:cNvSpPr>
          <p:nvPr>
            <p:ph type="title"/>
          </p:nvPr>
        </p:nvSpPr>
        <p:spPr>
          <a:xfrm>
            <a:off x="338700" y="1751879"/>
            <a:ext cx="3852000" cy="403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/>
              <a:t>Importación</a:t>
            </a:r>
            <a:r>
              <a:rPr lang="en" dirty="0"/>
              <a:t> y </a:t>
            </a:r>
            <a:r>
              <a:rPr lang="en" dirty="0" err="1"/>
              <a:t>exploración</a:t>
            </a:r>
            <a:endParaRPr dirty="0"/>
          </a:p>
        </p:txBody>
      </p:sp>
      <p:sp>
        <p:nvSpPr>
          <p:cNvPr id="518" name="Google Shape;518;p63"/>
          <p:cNvSpPr txBox="1">
            <a:spLocks noGrp="1"/>
          </p:cNvSpPr>
          <p:nvPr>
            <p:ph type="subTitle" idx="1"/>
          </p:nvPr>
        </p:nvSpPr>
        <p:spPr>
          <a:xfrm>
            <a:off x="841533" y="2310436"/>
            <a:ext cx="29045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 err="1">
                <a:solidFill>
                  <a:srgbClr val="5A5A5A"/>
                </a:solidFill>
              </a:rPr>
              <a:t>read_csv</a:t>
            </a:r>
            <a:r>
              <a:rPr lang="en-US" dirty="0">
                <a:solidFill>
                  <a:srgbClr val="5A5A5A"/>
                </a:solidFill>
              </a:rPr>
              <a:t>() con </a:t>
            </a:r>
            <a:r>
              <a:rPr lang="en-US" dirty="0" err="1">
                <a:solidFill>
                  <a:srgbClr val="5A5A5A"/>
                </a:solidFill>
              </a:rPr>
              <a:t>manejo</a:t>
            </a:r>
            <a:r>
              <a:rPr lang="en-US" dirty="0">
                <a:solidFill>
                  <a:srgbClr val="5A5A5A"/>
                </a:solidFill>
              </a:rPr>
              <a:t> de </a:t>
            </a:r>
            <a:r>
              <a:rPr lang="en-US" dirty="0" err="1">
                <a:solidFill>
                  <a:srgbClr val="5A5A5A"/>
                </a:solidFill>
              </a:rPr>
              <a:t>excepciones</a:t>
            </a:r>
            <a:r>
              <a:rPr lang="en-US" dirty="0">
                <a:solidFill>
                  <a:srgbClr val="5A5A5A"/>
                </a:solidFill>
              </a:rPr>
              <a:t>, info(), describe()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2" name="Google Shape;522;p63"/>
          <p:cNvSpPr txBox="1">
            <a:spLocks noGrp="1"/>
          </p:cNvSpPr>
          <p:nvPr>
            <p:ph type="title" idx="2"/>
          </p:nvPr>
        </p:nvSpPr>
        <p:spPr>
          <a:xfrm>
            <a:off x="1859100" y="1160950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1733416" y="435645"/>
            <a:ext cx="56771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Metodología</a:t>
            </a:r>
            <a:r>
              <a:rPr lang="en" dirty="0"/>
              <a:t> de </a:t>
            </a:r>
            <a:r>
              <a:rPr lang="en" dirty="0" err="1"/>
              <a:t>procesamiento</a:t>
            </a:r>
            <a:endParaRPr dirty="0"/>
          </a:p>
        </p:txBody>
      </p:sp>
      <p:sp>
        <p:nvSpPr>
          <p:cNvPr id="32" name="Google Shape;517;p63">
            <a:extLst>
              <a:ext uri="{FF2B5EF4-FFF2-40B4-BE49-F238E27FC236}">
                <a16:creationId xmlns:a16="http://schemas.microsoft.com/office/drawing/2014/main" id="{31B89774-CE17-3032-6DDC-E60CD4C08433}"/>
              </a:ext>
            </a:extLst>
          </p:cNvPr>
          <p:cNvSpPr txBox="1">
            <a:spLocks/>
          </p:cNvSpPr>
          <p:nvPr/>
        </p:nvSpPr>
        <p:spPr>
          <a:xfrm>
            <a:off x="4450467" y="1726843"/>
            <a:ext cx="3852000" cy="40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MX" dirty="0"/>
              <a:t>Limpieza</a:t>
            </a:r>
          </a:p>
        </p:txBody>
      </p:sp>
      <p:sp>
        <p:nvSpPr>
          <p:cNvPr id="33" name="Google Shape;518;p63">
            <a:extLst>
              <a:ext uri="{FF2B5EF4-FFF2-40B4-BE49-F238E27FC236}">
                <a16:creationId xmlns:a16="http://schemas.microsoft.com/office/drawing/2014/main" id="{F4167400-F3CF-C9F5-3934-543DA544F9D7}"/>
              </a:ext>
            </a:extLst>
          </p:cNvPr>
          <p:cNvSpPr txBox="1">
            <a:spLocks/>
          </p:cNvSpPr>
          <p:nvPr/>
        </p:nvSpPr>
        <p:spPr>
          <a:xfrm>
            <a:off x="4953300" y="2285400"/>
            <a:ext cx="31916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ts val="1700"/>
              </a:lnSpc>
            </a:pPr>
            <a:r>
              <a:rPr lang="en-US" dirty="0" err="1">
                <a:solidFill>
                  <a:srgbClr val="5A5A5A"/>
                </a:solidFill>
              </a:rPr>
              <a:t>drop_duplicates</a:t>
            </a:r>
            <a:r>
              <a:rPr lang="en-US" dirty="0">
                <a:solidFill>
                  <a:srgbClr val="5A5A5A"/>
                </a:solidFill>
              </a:rPr>
              <a:t>(), </a:t>
            </a:r>
            <a:r>
              <a:rPr lang="en-US" dirty="0" err="1">
                <a:solidFill>
                  <a:srgbClr val="5A5A5A"/>
                </a:solidFill>
              </a:rPr>
              <a:t>normalización</a:t>
            </a:r>
            <a:r>
              <a:rPr lang="en-US" dirty="0">
                <a:solidFill>
                  <a:srgbClr val="5A5A5A"/>
                </a:solidFill>
              </a:rPr>
              <a:t> de </a:t>
            </a:r>
            <a:r>
              <a:rPr lang="en-US" dirty="0" err="1">
                <a:solidFill>
                  <a:srgbClr val="5A5A5A"/>
                </a:solidFill>
              </a:rPr>
              <a:t>texto</a:t>
            </a:r>
            <a:r>
              <a:rPr lang="en-US" dirty="0">
                <a:solidFill>
                  <a:srgbClr val="5A5A5A"/>
                </a:solidFill>
              </a:rPr>
              <a:t> y </a:t>
            </a:r>
            <a:r>
              <a:rPr lang="en-US" dirty="0" err="1">
                <a:solidFill>
                  <a:srgbClr val="5A5A5A"/>
                </a:solidFill>
              </a:rPr>
              <a:t>fechas</a:t>
            </a:r>
            <a:r>
              <a:rPr lang="en-US" dirty="0">
                <a:solidFill>
                  <a:srgbClr val="5A5A5A"/>
                </a:solidFill>
              </a:rPr>
              <a:t>, </a:t>
            </a:r>
            <a:r>
              <a:rPr lang="en-US" dirty="0" err="1">
                <a:solidFill>
                  <a:srgbClr val="5A5A5A"/>
                </a:solidFill>
              </a:rPr>
              <a:t>imputación</a:t>
            </a:r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34" name="Google Shape;522;p63">
            <a:extLst>
              <a:ext uri="{FF2B5EF4-FFF2-40B4-BE49-F238E27FC236}">
                <a16:creationId xmlns:a16="http://schemas.microsoft.com/office/drawing/2014/main" id="{FB2E7226-98E9-D9E1-06EA-C3B272A80364}"/>
              </a:ext>
            </a:extLst>
          </p:cNvPr>
          <p:cNvSpPr txBox="1">
            <a:spLocks/>
          </p:cNvSpPr>
          <p:nvPr/>
        </p:nvSpPr>
        <p:spPr>
          <a:xfrm>
            <a:off x="5970867" y="1135914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Vidaloka"/>
              <a:buNone/>
              <a:defRPr sz="38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02</a:t>
            </a:r>
          </a:p>
        </p:txBody>
      </p:sp>
      <p:sp>
        <p:nvSpPr>
          <p:cNvPr id="35" name="Google Shape;517;p63">
            <a:extLst>
              <a:ext uri="{FF2B5EF4-FFF2-40B4-BE49-F238E27FC236}">
                <a16:creationId xmlns:a16="http://schemas.microsoft.com/office/drawing/2014/main" id="{8BB39354-8DCC-3546-2A5D-ADA969F1FA32}"/>
              </a:ext>
            </a:extLst>
          </p:cNvPr>
          <p:cNvSpPr txBox="1">
            <a:spLocks/>
          </p:cNvSpPr>
          <p:nvPr/>
        </p:nvSpPr>
        <p:spPr>
          <a:xfrm>
            <a:off x="496234" y="3514577"/>
            <a:ext cx="3852000" cy="40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MX" dirty="0"/>
              <a:t>Métricas</a:t>
            </a:r>
          </a:p>
        </p:txBody>
      </p:sp>
      <p:sp>
        <p:nvSpPr>
          <p:cNvPr id="36" name="Google Shape;518;p63">
            <a:extLst>
              <a:ext uri="{FF2B5EF4-FFF2-40B4-BE49-F238E27FC236}">
                <a16:creationId xmlns:a16="http://schemas.microsoft.com/office/drawing/2014/main" id="{CEF801E3-081C-1D6B-1125-584867CD2128}"/>
              </a:ext>
            </a:extLst>
          </p:cNvPr>
          <p:cNvSpPr txBox="1">
            <a:spLocks/>
          </p:cNvSpPr>
          <p:nvPr/>
        </p:nvSpPr>
        <p:spPr>
          <a:xfrm>
            <a:off x="999067" y="4073134"/>
            <a:ext cx="29045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ts val="1700"/>
              </a:lnSpc>
            </a:pPr>
            <a:r>
              <a:rPr lang="en-US" dirty="0">
                <a:solidFill>
                  <a:srgbClr val="5A5A5A"/>
                </a:solidFill>
              </a:rPr>
              <a:t>CTR, </a:t>
            </a:r>
            <a:r>
              <a:rPr lang="en-US" dirty="0" err="1">
                <a:solidFill>
                  <a:srgbClr val="5A5A5A"/>
                </a:solidFill>
              </a:rPr>
              <a:t>tasa</a:t>
            </a:r>
            <a:r>
              <a:rPr lang="en-US" dirty="0">
                <a:solidFill>
                  <a:srgbClr val="5A5A5A"/>
                </a:solidFill>
              </a:rPr>
              <a:t> de </a:t>
            </a:r>
            <a:r>
              <a:rPr lang="en-US" dirty="0" err="1">
                <a:solidFill>
                  <a:srgbClr val="5A5A5A"/>
                </a:solidFill>
              </a:rPr>
              <a:t>conversión</a:t>
            </a:r>
            <a:r>
              <a:rPr lang="en-US" dirty="0">
                <a:solidFill>
                  <a:srgbClr val="5A5A5A"/>
                </a:solidFill>
              </a:rPr>
              <a:t>, CPA y ROAS con </a:t>
            </a:r>
            <a:r>
              <a:rPr lang="en-US" dirty="0" err="1">
                <a:solidFill>
                  <a:srgbClr val="5A5A5A"/>
                </a:solidFill>
              </a:rPr>
              <a:t>operaciones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vectorizadas</a:t>
            </a:r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37" name="Google Shape;522;p63">
            <a:extLst>
              <a:ext uri="{FF2B5EF4-FFF2-40B4-BE49-F238E27FC236}">
                <a16:creationId xmlns:a16="http://schemas.microsoft.com/office/drawing/2014/main" id="{EAAC7528-1C92-7E0C-A67D-9D09919BAC32}"/>
              </a:ext>
            </a:extLst>
          </p:cNvPr>
          <p:cNvSpPr txBox="1">
            <a:spLocks/>
          </p:cNvSpPr>
          <p:nvPr/>
        </p:nvSpPr>
        <p:spPr>
          <a:xfrm>
            <a:off x="2016634" y="2923648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Vidaloka"/>
              <a:buNone/>
              <a:defRPr sz="38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38" name="Google Shape;517;p63">
            <a:extLst>
              <a:ext uri="{FF2B5EF4-FFF2-40B4-BE49-F238E27FC236}">
                <a16:creationId xmlns:a16="http://schemas.microsoft.com/office/drawing/2014/main" id="{EDF1EF12-A2D1-2D77-83ED-2485B09F8D07}"/>
              </a:ext>
            </a:extLst>
          </p:cNvPr>
          <p:cNvSpPr txBox="1">
            <a:spLocks/>
          </p:cNvSpPr>
          <p:nvPr/>
        </p:nvSpPr>
        <p:spPr>
          <a:xfrm>
            <a:off x="4608001" y="3489541"/>
            <a:ext cx="3852000" cy="40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MX" dirty="0"/>
              <a:t>Funcional</a:t>
            </a:r>
          </a:p>
        </p:txBody>
      </p:sp>
      <p:sp>
        <p:nvSpPr>
          <p:cNvPr id="39" name="Google Shape;518;p63">
            <a:extLst>
              <a:ext uri="{FF2B5EF4-FFF2-40B4-BE49-F238E27FC236}">
                <a16:creationId xmlns:a16="http://schemas.microsoft.com/office/drawing/2014/main" id="{FE907C09-5E61-372D-38E4-F66886E7A5D4}"/>
              </a:ext>
            </a:extLst>
          </p:cNvPr>
          <p:cNvSpPr txBox="1">
            <a:spLocks/>
          </p:cNvSpPr>
          <p:nvPr/>
        </p:nvSpPr>
        <p:spPr>
          <a:xfrm>
            <a:off x="5110834" y="4048098"/>
            <a:ext cx="31916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ts val="1700"/>
              </a:lnSpc>
            </a:pPr>
            <a:r>
              <a:rPr lang="en-US" dirty="0" err="1">
                <a:solidFill>
                  <a:srgbClr val="5A5A5A"/>
                </a:solidFill>
              </a:rPr>
              <a:t>Funciones</a:t>
            </a:r>
            <a:r>
              <a:rPr lang="en-US" dirty="0">
                <a:solidFill>
                  <a:srgbClr val="5A5A5A"/>
                </a:solidFill>
              </a:rPr>
              <a:t>, lambda, map(), filter(), reduce() y try/except</a:t>
            </a:r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40" name="Google Shape;522;p63">
            <a:extLst>
              <a:ext uri="{FF2B5EF4-FFF2-40B4-BE49-F238E27FC236}">
                <a16:creationId xmlns:a16="http://schemas.microsoft.com/office/drawing/2014/main" id="{96DE0C88-1CE5-1933-32EB-F54EEED7725D}"/>
              </a:ext>
            </a:extLst>
          </p:cNvPr>
          <p:cNvSpPr txBox="1">
            <a:spLocks/>
          </p:cNvSpPr>
          <p:nvPr/>
        </p:nvSpPr>
        <p:spPr>
          <a:xfrm>
            <a:off x="6128401" y="2898612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Vidaloka"/>
              <a:buNone/>
              <a:defRPr sz="38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sz="39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 txBox="1">
            <a:spLocks noGrp="1"/>
          </p:cNvSpPr>
          <p:nvPr>
            <p:ph type="subTitle" idx="1"/>
          </p:nvPr>
        </p:nvSpPr>
        <p:spPr>
          <a:xfrm>
            <a:off x="5588000" y="1151466"/>
            <a:ext cx="3406434" cy="3611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2000"/>
              </a:lnSpc>
            </a:pPr>
            <a:r>
              <a:rPr lang="en-US" sz="1800" b="1" dirty="0" err="1">
                <a:solidFill>
                  <a:schemeClr val="accent6"/>
                </a:solidFill>
              </a:rPr>
              <a:t>Hallazgo</a:t>
            </a:r>
            <a:r>
              <a:rPr lang="en-US" sz="1800" b="1" dirty="0">
                <a:solidFill>
                  <a:schemeClr val="accent6"/>
                </a:solidFill>
              </a:rPr>
              <a:t> clave</a:t>
            </a:r>
          </a:p>
          <a:p>
            <a:pPr marL="0" indent="0">
              <a:lnSpc>
                <a:spcPts val="2000"/>
              </a:lnSpc>
            </a:pPr>
            <a:endParaRPr lang="en-US" dirty="0">
              <a:solidFill>
                <a:srgbClr val="1B1B1B"/>
              </a:solidFill>
            </a:endParaRPr>
          </a:p>
          <a:p>
            <a:pPr marL="0" indent="0" algn="just">
              <a:lnSpc>
                <a:spcPts val="2000"/>
              </a:lnSpc>
            </a:pPr>
            <a:r>
              <a:rPr lang="en-US" sz="1400" dirty="0">
                <a:solidFill>
                  <a:srgbClr val="1B1B1B"/>
                </a:solidFill>
              </a:rPr>
              <a:t>Instagram Ads (7.15) y Google Ads (6.90) </a:t>
            </a:r>
            <a:r>
              <a:rPr lang="en-US" sz="1400" dirty="0" err="1">
                <a:solidFill>
                  <a:srgbClr val="1B1B1B"/>
                </a:solidFill>
              </a:rPr>
              <a:t>tienen</a:t>
            </a:r>
            <a:r>
              <a:rPr lang="en-US" sz="1400" dirty="0">
                <a:solidFill>
                  <a:srgbClr val="1B1B1B"/>
                </a:solidFill>
              </a:rPr>
              <a:t> el ROAS </a:t>
            </a:r>
            <a:r>
              <a:rPr lang="en-US" sz="1400" dirty="0" err="1">
                <a:solidFill>
                  <a:srgbClr val="1B1B1B"/>
                </a:solidFill>
              </a:rPr>
              <a:t>promedio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más</a:t>
            </a:r>
            <a:r>
              <a:rPr lang="en-US" sz="1400" dirty="0">
                <a:solidFill>
                  <a:srgbClr val="1B1B1B"/>
                </a:solidFill>
              </a:rPr>
              <a:t> alto, </a:t>
            </a:r>
            <a:r>
              <a:rPr lang="en-US" sz="1400" dirty="0" err="1">
                <a:solidFill>
                  <a:srgbClr val="1B1B1B"/>
                </a:solidFill>
              </a:rPr>
              <a:t>mientras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que</a:t>
            </a:r>
            <a:r>
              <a:rPr lang="en-US" sz="1400" dirty="0">
                <a:solidFill>
                  <a:srgbClr val="1B1B1B"/>
                </a:solidFill>
              </a:rPr>
              <a:t> LinkedIn Ads, junto con </a:t>
            </a:r>
            <a:r>
              <a:rPr lang="en-US" sz="1400" dirty="0" err="1">
                <a:solidFill>
                  <a:srgbClr val="1B1B1B"/>
                </a:solidFill>
              </a:rPr>
              <a:t>los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registros</a:t>
            </a:r>
            <a:r>
              <a:rPr lang="en-US" sz="1400" dirty="0">
                <a:solidFill>
                  <a:srgbClr val="1B1B1B"/>
                </a:solidFill>
              </a:rPr>
              <a:t> sin </a:t>
            </a:r>
            <a:r>
              <a:rPr lang="en-US" sz="1400" dirty="0" err="1">
                <a:solidFill>
                  <a:srgbClr val="1B1B1B"/>
                </a:solidFill>
              </a:rPr>
              <a:t>plataforma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especificada</a:t>
            </a:r>
            <a:r>
              <a:rPr lang="en-US" sz="1400" dirty="0">
                <a:solidFill>
                  <a:srgbClr val="1B1B1B"/>
                </a:solidFill>
              </a:rPr>
              <a:t>, </a:t>
            </a:r>
            <a:r>
              <a:rPr lang="en-US" sz="1400" dirty="0" err="1">
                <a:solidFill>
                  <a:srgbClr val="1B1B1B"/>
                </a:solidFill>
              </a:rPr>
              <a:t>rinden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menos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por</a:t>
            </a:r>
            <a:r>
              <a:rPr lang="en-US" sz="1400" dirty="0">
                <a:solidFill>
                  <a:srgbClr val="1B1B1B"/>
                </a:solidFill>
              </a:rPr>
              <a:t> peso </a:t>
            </a:r>
            <a:r>
              <a:rPr lang="en-US" sz="1400" dirty="0" err="1">
                <a:solidFill>
                  <a:srgbClr val="1B1B1B"/>
                </a:solidFill>
              </a:rPr>
              <a:t>invertido</a:t>
            </a:r>
            <a:r>
              <a:rPr lang="en-US" sz="1400" dirty="0">
                <a:solidFill>
                  <a:srgbClr val="1B1B1B"/>
                </a:solidFill>
              </a:rPr>
              <a:t>.</a:t>
            </a:r>
          </a:p>
          <a:p>
            <a:pPr marL="0" indent="0" algn="just">
              <a:lnSpc>
                <a:spcPts val="2000"/>
              </a:lnSpc>
            </a:pPr>
            <a:endParaRPr lang="en-US" sz="1400" dirty="0">
              <a:solidFill>
                <a:srgbClr val="1B1B1B"/>
              </a:solidFill>
            </a:endParaRPr>
          </a:p>
          <a:p>
            <a:pPr marL="0" indent="0" algn="just">
              <a:lnSpc>
                <a:spcPts val="2000"/>
              </a:lnSpc>
            </a:pPr>
            <a:endParaRPr lang="en-US" sz="1400" dirty="0">
              <a:solidFill>
                <a:srgbClr val="1B1B1B"/>
              </a:solidFill>
            </a:endParaRPr>
          </a:p>
          <a:p>
            <a:pPr marL="0" indent="0" algn="just">
              <a:lnSpc>
                <a:spcPts val="2000"/>
              </a:lnSpc>
            </a:pPr>
            <a:r>
              <a:rPr lang="en-US" sz="1800" b="1" dirty="0">
                <a:solidFill>
                  <a:srgbClr val="1B1B1B"/>
                </a:solidFill>
              </a:rPr>
              <a:t>$429.2M MXN</a:t>
            </a:r>
          </a:p>
          <a:p>
            <a:pPr marL="0" indent="0" algn="just">
              <a:lnSpc>
                <a:spcPts val="2000"/>
              </a:lnSpc>
            </a:pPr>
            <a:r>
              <a:rPr lang="en-US" sz="1400" dirty="0">
                <a:solidFill>
                  <a:srgbClr val="1B1B1B"/>
                </a:solidFill>
              </a:rPr>
              <a:t>Gasto total </a:t>
            </a:r>
            <a:r>
              <a:rPr lang="en-US" sz="1400" dirty="0" err="1">
                <a:solidFill>
                  <a:srgbClr val="1B1B1B"/>
                </a:solidFill>
              </a:rPr>
              <a:t>invertido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en</a:t>
            </a:r>
            <a:r>
              <a:rPr lang="en-US" sz="1400" dirty="0">
                <a:solidFill>
                  <a:srgbClr val="1B1B1B"/>
                </a:solidFill>
              </a:rPr>
              <a:t> el </a:t>
            </a:r>
            <a:r>
              <a:rPr lang="en-US" sz="1400" dirty="0" err="1">
                <a:solidFill>
                  <a:srgbClr val="1B1B1B"/>
                </a:solidFill>
              </a:rPr>
              <a:t>periodo</a:t>
            </a:r>
            <a:endParaRPr lang="en-US" sz="14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1170E6C-EB04-C9C8-54D0-550B0B2CF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0180"/>
            <a:ext cx="6279134" cy="497700"/>
          </a:xfrm>
        </p:spPr>
        <p:txBody>
          <a:bodyPr/>
          <a:lstStyle/>
          <a:p>
            <a:r>
              <a:rPr lang="es-MX" dirty="0"/>
              <a:t>¿Qué plataforma da mejor retorno?</a:t>
            </a:r>
          </a:p>
        </p:txBody>
      </p:sp>
      <p:pic>
        <p:nvPicPr>
          <p:cNvPr id="4" name="Image 0" descr="grafico_roas_plataforma.png">
            <a:extLst>
              <a:ext uri="{FF2B5EF4-FFF2-40B4-BE49-F238E27FC236}">
                <a16:creationId xmlns:a16="http://schemas.microsoft.com/office/drawing/2014/main" id="{08B03AB3-9E18-F2E5-207F-EA4E4D8A6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50" y="958465"/>
            <a:ext cx="4959900" cy="3804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title"/>
          </p:nvPr>
        </p:nvSpPr>
        <p:spPr>
          <a:xfrm>
            <a:off x="699900" y="298196"/>
            <a:ext cx="70725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Salud general del </a:t>
            </a:r>
            <a:r>
              <a:rPr lang="en" dirty="0" err="1"/>
              <a:t>portafolio</a:t>
            </a:r>
            <a:r>
              <a:rPr lang="en" dirty="0"/>
              <a:t> de </a:t>
            </a:r>
            <a:r>
              <a:rPr lang="en" dirty="0" err="1"/>
              <a:t>campañas</a:t>
            </a:r>
            <a:endParaRPr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subTitle" idx="1"/>
          </p:nvPr>
        </p:nvSpPr>
        <p:spPr>
          <a:xfrm>
            <a:off x="5266266" y="795896"/>
            <a:ext cx="3877733" cy="3897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1" dirty="0">
                <a:solidFill>
                  <a:schemeClr val="accent6"/>
                </a:solidFill>
              </a:rPr>
              <a:t>42.4%</a:t>
            </a:r>
          </a:p>
          <a:p>
            <a:pPr marL="0" lvl="0" indent="0">
              <a:spcAft>
                <a:spcPts val="1200"/>
              </a:spcAft>
            </a:pPr>
            <a:r>
              <a:rPr lang="es-MX" sz="1400" dirty="0"/>
              <a:t>D</a:t>
            </a:r>
            <a:r>
              <a:rPr lang="en" sz="1400" dirty="0"/>
              <a:t>e las </a:t>
            </a:r>
            <a:r>
              <a:rPr lang="en" sz="1400" dirty="0" err="1"/>
              <a:t>campañas</a:t>
            </a:r>
            <a:r>
              <a:rPr lang="en" sz="1400" dirty="0"/>
              <a:t> </a:t>
            </a:r>
            <a:r>
              <a:rPr lang="en" sz="1400" dirty="0" err="1"/>
              <a:t>tiene</a:t>
            </a:r>
            <a:r>
              <a:rPr lang="en" sz="1400" dirty="0"/>
              <a:t> un </a:t>
            </a:r>
            <a:r>
              <a:rPr lang="en" sz="1400" dirty="0" err="1"/>
              <a:t>desempeño</a:t>
            </a:r>
            <a:r>
              <a:rPr lang="en" sz="1400" dirty="0"/>
              <a:t> </a:t>
            </a:r>
            <a:r>
              <a:rPr lang="en" sz="1400" dirty="0" err="1"/>
              <a:t>Excelente</a:t>
            </a:r>
            <a:r>
              <a:rPr lang="en" sz="1400" dirty="0"/>
              <a:t> (ROAS </a:t>
            </a:r>
            <a:r>
              <a:rPr lang="en-US" sz="1400" dirty="0">
                <a:solidFill>
                  <a:srgbClr val="1B1B1B"/>
                </a:solidFill>
              </a:rPr>
              <a:t>≥ 3)</a:t>
            </a:r>
          </a:p>
          <a:p>
            <a:pPr marL="0" lvl="0" indent="0">
              <a:spcAft>
                <a:spcPts val="1200"/>
              </a:spcAft>
            </a:pPr>
            <a:endParaRPr lang="en-US" sz="1400" dirty="0">
              <a:solidFill>
                <a:srgbClr val="1B1B1B"/>
              </a:solidFill>
            </a:endParaRPr>
          </a:p>
          <a:p>
            <a:pPr marL="0" lvl="0" indent="0">
              <a:spcAft>
                <a:spcPts val="1200"/>
              </a:spcAft>
            </a:pPr>
            <a:r>
              <a:rPr lang="en-US" sz="1600" b="1" dirty="0">
                <a:solidFill>
                  <a:srgbClr val="1B1B1B"/>
                </a:solidFill>
              </a:rPr>
              <a:t>18.1%</a:t>
            </a:r>
          </a:p>
          <a:p>
            <a:pPr marL="0" lvl="0" indent="0">
              <a:spcAft>
                <a:spcPts val="1200"/>
              </a:spcAft>
            </a:pPr>
            <a:r>
              <a:rPr lang="en-US" sz="1400" dirty="0">
                <a:solidFill>
                  <a:srgbClr val="1B1B1B"/>
                </a:solidFill>
              </a:rPr>
              <a:t>De las </a:t>
            </a:r>
            <a:r>
              <a:rPr lang="en-US" sz="1400" dirty="0" err="1">
                <a:solidFill>
                  <a:srgbClr val="1B1B1B"/>
                </a:solidFill>
              </a:rPr>
              <a:t>campañas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tiene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utilidad</a:t>
            </a:r>
            <a:r>
              <a:rPr lang="en-US" sz="1400" dirty="0">
                <a:solidFill>
                  <a:srgbClr val="1B1B1B"/>
                </a:solidFill>
              </a:rPr>
              <a:t> negative y </a:t>
            </a:r>
            <a:r>
              <a:rPr lang="en-US" sz="1400" dirty="0" err="1">
                <a:solidFill>
                  <a:srgbClr val="1B1B1B"/>
                </a:solidFill>
              </a:rPr>
              <a:t>deberia</a:t>
            </a:r>
            <a:r>
              <a:rPr lang="en-US" sz="1400" dirty="0">
                <a:solidFill>
                  <a:srgbClr val="1B1B1B"/>
                </a:solidFill>
              </a:rPr>
              <a:t> </a:t>
            </a:r>
            <a:r>
              <a:rPr lang="en-US" sz="1400" dirty="0" err="1">
                <a:solidFill>
                  <a:srgbClr val="1B1B1B"/>
                </a:solidFill>
              </a:rPr>
              <a:t>revisarse</a:t>
            </a:r>
            <a:r>
              <a:rPr lang="en-US" sz="1400" dirty="0">
                <a:solidFill>
                  <a:srgbClr val="1B1B1B"/>
                </a:solidFill>
              </a:rPr>
              <a:t> o </a:t>
            </a:r>
            <a:r>
              <a:rPr lang="en-US" sz="1400" dirty="0" err="1">
                <a:solidFill>
                  <a:srgbClr val="1B1B1B"/>
                </a:solidFill>
              </a:rPr>
              <a:t>pausarse</a:t>
            </a:r>
            <a:endParaRPr lang="en-US" sz="1400" dirty="0">
              <a:solidFill>
                <a:srgbClr val="1B1B1B"/>
              </a:solidFill>
            </a:endParaRPr>
          </a:p>
          <a:p>
            <a:pPr marL="0" lvl="0" indent="0">
              <a:spcAft>
                <a:spcPts val="1200"/>
              </a:spcAft>
            </a:pPr>
            <a:endParaRPr lang="en-US" sz="1400" dirty="0">
              <a:solidFill>
                <a:srgbClr val="1B1B1B"/>
              </a:solidFill>
            </a:endParaRPr>
          </a:p>
          <a:p>
            <a:pPr marL="0" lvl="0" indent="0">
              <a:spcAft>
                <a:spcPts val="1200"/>
              </a:spcAft>
            </a:pPr>
            <a:r>
              <a:rPr lang="en-US" sz="1600" b="1" dirty="0">
                <a:solidFill>
                  <a:srgbClr val="1B1B1B"/>
                </a:solidFill>
              </a:rPr>
              <a:t>1,812</a:t>
            </a:r>
            <a:endParaRPr lang="en-US" sz="1400" b="1" dirty="0">
              <a:solidFill>
                <a:srgbClr val="1B1B1B"/>
              </a:solidFill>
            </a:endParaRPr>
          </a:p>
          <a:p>
            <a:pPr marL="0" lvl="0" indent="0">
              <a:spcAft>
                <a:spcPts val="1200"/>
              </a:spcAft>
            </a:pPr>
            <a:r>
              <a:rPr lang="en-US" sz="1400" dirty="0" err="1">
                <a:solidFill>
                  <a:srgbClr val="1B1B1B"/>
                </a:solidFill>
              </a:rPr>
              <a:t>Campañas</a:t>
            </a:r>
            <a:r>
              <a:rPr lang="en-US" sz="1400" dirty="0">
                <a:solidFill>
                  <a:srgbClr val="1B1B1B"/>
                </a:solidFill>
              </a:rPr>
              <a:t> con </a:t>
            </a:r>
            <a:r>
              <a:rPr lang="en-US" sz="1400" dirty="0" err="1">
                <a:solidFill>
                  <a:srgbClr val="1B1B1B"/>
                </a:solidFill>
              </a:rPr>
              <a:t>utilidad</a:t>
            </a:r>
            <a:r>
              <a:rPr lang="en-US" sz="1400" dirty="0">
                <a:solidFill>
                  <a:srgbClr val="1B1B1B"/>
                </a:solidFill>
              </a:rPr>
              <a:t> negative </a:t>
            </a:r>
            <a:r>
              <a:rPr lang="en-US" sz="1400" dirty="0" err="1">
                <a:solidFill>
                  <a:srgbClr val="1B1B1B"/>
                </a:solidFill>
              </a:rPr>
              <a:t>identificadas</a:t>
            </a:r>
            <a:r>
              <a:rPr lang="en-US" sz="1400" dirty="0">
                <a:solidFill>
                  <a:srgbClr val="1B1B1B"/>
                </a:solidFill>
              </a:rPr>
              <a:t> para revision </a:t>
            </a:r>
            <a:r>
              <a:rPr lang="en-US" sz="1400" dirty="0" err="1">
                <a:solidFill>
                  <a:srgbClr val="1B1B1B"/>
                </a:solidFill>
              </a:rPr>
              <a:t>puntual</a:t>
            </a:r>
            <a:endParaRPr sz="1400" dirty="0"/>
          </a:p>
        </p:txBody>
      </p:sp>
      <p:pic>
        <p:nvPicPr>
          <p:cNvPr id="2" name="Image 0" descr="grafico_distribucion_desempeno.png">
            <a:extLst>
              <a:ext uri="{FF2B5EF4-FFF2-40B4-BE49-F238E27FC236}">
                <a16:creationId xmlns:a16="http://schemas.microsoft.com/office/drawing/2014/main" id="{D58608F0-5700-3BB6-E873-BFA7CA634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5" y="925802"/>
            <a:ext cx="4619413" cy="39195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9734841B-9E9C-D922-85EC-E806B77C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1F98004A-F1A9-B225-ED69-3BE280464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900" y="298196"/>
            <a:ext cx="70725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¿A </a:t>
            </a:r>
            <a:r>
              <a:rPr lang="en" dirty="0" err="1"/>
              <a:t>qué</a:t>
            </a:r>
            <a:r>
              <a:rPr lang="en" dirty="0"/>
              <a:t> audiencia le </a:t>
            </a:r>
            <a:r>
              <a:rPr lang="en" dirty="0" err="1"/>
              <a:t>hablamos</a:t>
            </a:r>
            <a:r>
              <a:rPr lang="en" dirty="0"/>
              <a:t> m</a:t>
            </a:r>
            <a:r>
              <a:rPr lang="es-MX" dirty="0"/>
              <a:t>a</a:t>
            </a:r>
            <a:r>
              <a:rPr lang="en" dirty="0" err="1"/>
              <a:t>jor</a:t>
            </a:r>
            <a:r>
              <a:rPr lang="en" dirty="0"/>
              <a:t>?</a:t>
            </a:r>
            <a:endParaRPr dirty="0"/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141B8FD2-D3E5-946C-FA46-27BA0D1650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2599" y="1157831"/>
            <a:ext cx="3505201" cy="2827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>
                <a:solidFill>
                  <a:schemeClr val="accent6"/>
                </a:solidFill>
              </a:rPr>
              <a:t>35-44 </a:t>
            </a:r>
            <a:r>
              <a:rPr lang="en" b="1" dirty="0" err="1">
                <a:solidFill>
                  <a:schemeClr val="accent6"/>
                </a:solidFill>
              </a:rPr>
              <a:t>años</a:t>
            </a:r>
            <a:endParaRPr lang="en" b="1" dirty="0">
              <a:solidFill>
                <a:schemeClr val="accent6"/>
              </a:solidFill>
            </a:endParaRPr>
          </a:p>
          <a:p>
            <a:pPr marL="0" indent="0">
              <a:lnSpc>
                <a:spcPts val="1800"/>
              </a:lnSpc>
            </a:pPr>
            <a:r>
              <a:rPr lang="en-US" sz="1800" dirty="0">
                <a:solidFill>
                  <a:schemeClr val="accent6"/>
                </a:solidFill>
              </a:rPr>
              <a:t>Mejor </a:t>
            </a:r>
            <a:r>
              <a:rPr lang="en-US" sz="1800" dirty="0" err="1">
                <a:solidFill>
                  <a:schemeClr val="accent6"/>
                </a:solidFill>
              </a:rPr>
              <a:t>tasa</a:t>
            </a:r>
            <a:r>
              <a:rPr lang="en-US" sz="1800" dirty="0">
                <a:solidFill>
                  <a:schemeClr val="accent6"/>
                </a:solidFill>
              </a:rPr>
              <a:t> de </a:t>
            </a:r>
            <a:r>
              <a:rPr lang="en-US" sz="1800" dirty="0" err="1">
                <a:solidFill>
                  <a:schemeClr val="accent6"/>
                </a:solidFill>
              </a:rPr>
              <a:t>conversión</a:t>
            </a:r>
            <a:r>
              <a:rPr lang="en-US" sz="1800" dirty="0">
                <a:solidFill>
                  <a:schemeClr val="accent6"/>
                </a:solidFill>
              </a:rPr>
              <a:t> de </a:t>
            </a:r>
            <a:r>
              <a:rPr lang="en-US" sz="1800" dirty="0" err="1">
                <a:solidFill>
                  <a:schemeClr val="accent6"/>
                </a:solidFill>
              </a:rPr>
              <a:t>todos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los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segmentos</a:t>
            </a:r>
            <a:r>
              <a:rPr lang="en-US" sz="1800" dirty="0">
                <a:solidFill>
                  <a:schemeClr val="accent6"/>
                </a:solidFill>
              </a:rPr>
              <a:t> (12.57%).</a:t>
            </a:r>
          </a:p>
          <a:p>
            <a:pPr marL="0" lvl="0" indent="0">
              <a:spcAft>
                <a:spcPts val="1200"/>
              </a:spcAft>
            </a:pPr>
            <a:endParaRPr lang="en-US" sz="1800" dirty="0">
              <a:solidFill>
                <a:srgbClr val="1B1B1B"/>
              </a:solidFill>
            </a:endParaRPr>
          </a:p>
          <a:p>
            <a:pPr marL="0" lvl="0" indent="0">
              <a:spcAft>
                <a:spcPts val="1200"/>
              </a:spcAft>
            </a:pPr>
            <a:r>
              <a:rPr lang="en-US" b="1" dirty="0">
                <a:solidFill>
                  <a:srgbClr val="1B1B1B"/>
                </a:solidFill>
              </a:rPr>
              <a:t>55+ </a:t>
            </a:r>
            <a:r>
              <a:rPr lang="en-US" b="1" dirty="0" err="1">
                <a:solidFill>
                  <a:srgbClr val="1B1B1B"/>
                </a:solidFill>
              </a:rPr>
              <a:t>años</a:t>
            </a:r>
            <a:endParaRPr lang="en-US" b="1" dirty="0">
              <a:solidFill>
                <a:srgbClr val="1B1B1B"/>
              </a:solidFill>
            </a:endParaRPr>
          </a:p>
          <a:p>
            <a:pPr marL="0" indent="0">
              <a:lnSpc>
                <a:spcPts val="1800"/>
              </a:lnSpc>
            </a:pPr>
            <a:r>
              <a:rPr lang="en-US" sz="1800" dirty="0" err="1">
                <a:solidFill>
                  <a:schemeClr val="accent6"/>
                </a:solidFill>
              </a:rPr>
              <a:t>Convierte</a:t>
            </a:r>
            <a:r>
              <a:rPr lang="en-US" sz="1800" dirty="0">
                <a:solidFill>
                  <a:schemeClr val="accent6"/>
                </a:solidFill>
              </a:rPr>
              <a:t> de forma </a:t>
            </a:r>
            <a:r>
              <a:rPr lang="en-US" sz="1800" dirty="0" err="1">
                <a:solidFill>
                  <a:schemeClr val="accent6"/>
                </a:solidFill>
              </a:rPr>
              <a:t>aceptable</a:t>
            </a:r>
            <a:r>
              <a:rPr lang="en-US" sz="1800" dirty="0">
                <a:solidFill>
                  <a:schemeClr val="accent6"/>
                </a:solidFill>
              </a:rPr>
              <a:t> (11.21%) </a:t>
            </a:r>
            <a:r>
              <a:rPr lang="en-US" sz="1800" dirty="0" err="1">
                <a:solidFill>
                  <a:schemeClr val="accent6"/>
                </a:solidFill>
              </a:rPr>
              <a:t>pero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tiene</a:t>
            </a:r>
            <a:r>
              <a:rPr lang="en-US" sz="1800" dirty="0">
                <a:solidFill>
                  <a:schemeClr val="accent6"/>
                </a:solidFill>
              </a:rPr>
              <a:t> el CPA </a:t>
            </a:r>
            <a:r>
              <a:rPr lang="en-US" sz="1800" dirty="0" err="1">
                <a:solidFill>
                  <a:schemeClr val="accent6"/>
                </a:solidFill>
              </a:rPr>
              <a:t>más</a:t>
            </a:r>
            <a:r>
              <a:rPr lang="en-US" sz="1800" dirty="0">
                <a:solidFill>
                  <a:schemeClr val="accent6"/>
                </a:solidFill>
              </a:rPr>
              <a:t> alto ($539.20 MXN). </a:t>
            </a:r>
            <a:r>
              <a:rPr lang="en-US" sz="1800" dirty="0" err="1">
                <a:solidFill>
                  <a:schemeClr val="accent6"/>
                </a:solidFill>
              </a:rPr>
              <a:t>Segmento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menos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eficiente</a:t>
            </a:r>
            <a:r>
              <a:rPr lang="en-US" sz="1800" dirty="0">
                <a:solidFill>
                  <a:schemeClr val="accent6"/>
                </a:solidFill>
              </a:rPr>
              <a:t> hoy.</a:t>
            </a:r>
          </a:p>
          <a:p>
            <a:pPr marL="0" lvl="0" indent="0">
              <a:spcAft>
                <a:spcPts val="1200"/>
              </a:spcAft>
            </a:pPr>
            <a:endParaRPr lang="en-US" sz="1800" dirty="0">
              <a:solidFill>
                <a:srgbClr val="1B1B1B"/>
              </a:solidFill>
            </a:endParaRPr>
          </a:p>
          <a:p>
            <a:pPr marL="0" lvl="0" indent="0">
              <a:spcAft>
                <a:spcPts val="1200"/>
              </a:spcAft>
            </a:pPr>
            <a:endParaRPr lang="en-US" sz="1800" b="1" dirty="0">
              <a:solidFill>
                <a:srgbClr val="1B1B1B"/>
              </a:solidFill>
            </a:endParaRPr>
          </a:p>
        </p:txBody>
      </p:sp>
      <p:pic>
        <p:nvPicPr>
          <p:cNvPr id="4" name="Image 0" descr="grafico_conversion_segmento.png">
            <a:extLst>
              <a:ext uri="{FF2B5EF4-FFF2-40B4-BE49-F238E27FC236}">
                <a16:creationId xmlns:a16="http://schemas.microsoft.com/office/drawing/2014/main" id="{D89820D5-1A66-9A9B-01A5-80AE82A3B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33" y="948267"/>
            <a:ext cx="5080066" cy="389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79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09"/>
          <p:cNvSpPr txBox="1">
            <a:spLocks noGrp="1"/>
          </p:cNvSpPr>
          <p:nvPr>
            <p:ph type="subTitle" idx="3"/>
          </p:nvPr>
        </p:nvSpPr>
        <p:spPr>
          <a:xfrm>
            <a:off x="738469" y="1163061"/>
            <a:ext cx="3339283" cy="401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Reasignar</a:t>
            </a:r>
            <a:r>
              <a:rPr lang="en" dirty="0"/>
              <a:t> </a:t>
            </a:r>
            <a:r>
              <a:rPr lang="en" dirty="0" err="1"/>
              <a:t>presupuesto</a:t>
            </a:r>
            <a:endParaRPr dirty="0"/>
          </a:p>
        </p:txBody>
      </p:sp>
      <p:sp>
        <p:nvSpPr>
          <p:cNvPr id="1392" name="Google Shape;1392;p109"/>
          <p:cNvSpPr txBox="1">
            <a:spLocks noGrp="1"/>
          </p:cNvSpPr>
          <p:nvPr>
            <p:ph type="subTitle" idx="4"/>
          </p:nvPr>
        </p:nvSpPr>
        <p:spPr>
          <a:xfrm>
            <a:off x="887368" y="1697323"/>
            <a:ext cx="3041483" cy="1012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ts val="1700"/>
              </a:lnSpc>
            </a:pPr>
            <a:r>
              <a:rPr lang="en-US" dirty="0">
                <a:solidFill>
                  <a:srgbClr val="5A5A5A"/>
                </a:solidFill>
              </a:rPr>
              <a:t>Mover </a:t>
            </a:r>
            <a:r>
              <a:rPr lang="en-US" dirty="0" err="1">
                <a:solidFill>
                  <a:srgbClr val="5A5A5A"/>
                </a:solidFill>
              </a:rPr>
              <a:t>inversión</a:t>
            </a:r>
            <a:r>
              <a:rPr lang="en-US" dirty="0">
                <a:solidFill>
                  <a:srgbClr val="5A5A5A"/>
                </a:solidFill>
              </a:rPr>
              <a:t> gradual </a:t>
            </a:r>
            <a:r>
              <a:rPr lang="en-US" dirty="0" err="1">
                <a:solidFill>
                  <a:srgbClr val="5A5A5A"/>
                </a:solidFill>
              </a:rPr>
              <a:t>hacia</a:t>
            </a:r>
            <a:r>
              <a:rPr lang="en-US" dirty="0">
                <a:solidFill>
                  <a:srgbClr val="5A5A5A"/>
                </a:solidFill>
              </a:rPr>
              <a:t> Instagram Ads y Google Ads, </a:t>
            </a:r>
            <a:r>
              <a:rPr lang="en-US" dirty="0" err="1">
                <a:solidFill>
                  <a:srgbClr val="5A5A5A"/>
                </a:solidFill>
              </a:rPr>
              <a:t>validando</a:t>
            </a:r>
            <a:r>
              <a:rPr lang="en-US" dirty="0">
                <a:solidFill>
                  <a:srgbClr val="5A5A5A"/>
                </a:solidFill>
              </a:rPr>
              <a:t> con </a:t>
            </a:r>
            <a:r>
              <a:rPr lang="en-US" dirty="0" err="1">
                <a:solidFill>
                  <a:srgbClr val="5A5A5A"/>
                </a:solidFill>
              </a:rPr>
              <a:t>pruebas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controladas</a:t>
            </a:r>
            <a:r>
              <a:rPr lang="en-US" dirty="0">
                <a:solidFill>
                  <a:srgbClr val="5A5A5A"/>
                </a:solidFill>
              </a:rPr>
              <a:t>.</a:t>
            </a:r>
            <a:endParaRPr lang="en-U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3" name="Google Shape;1393;p109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Recomendaciones</a:t>
            </a:r>
            <a:endParaRPr dirty="0"/>
          </a:p>
        </p:txBody>
      </p:sp>
      <p:sp>
        <p:nvSpPr>
          <p:cNvPr id="1398" name="Google Shape;1398;p109"/>
          <p:cNvSpPr txBox="1">
            <a:spLocks noGrp="1"/>
          </p:cNvSpPr>
          <p:nvPr>
            <p:ph type="title" idx="9"/>
          </p:nvPr>
        </p:nvSpPr>
        <p:spPr>
          <a:xfrm>
            <a:off x="0" y="1869577"/>
            <a:ext cx="88395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20" name="Google Shape;1391;p109">
            <a:extLst>
              <a:ext uri="{FF2B5EF4-FFF2-40B4-BE49-F238E27FC236}">
                <a16:creationId xmlns:a16="http://schemas.microsoft.com/office/drawing/2014/main" id="{66908340-44FA-7F4E-BAF1-1D3E370C58A4}"/>
              </a:ext>
            </a:extLst>
          </p:cNvPr>
          <p:cNvSpPr txBox="1">
            <a:spLocks/>
          </p:cNvSpPr>
          <p:nvPr/>
        </p:nvSpPr>
        <p:spPr>
          <a:xfrm>
            <a:off x="4930486" y="1189979"/>
            <a:ext cx="4078047" cy="401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400" b="0" i="0" u="none" strike="noStrike" cap="none" spc="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s-MX" dirty="0"/>
              <a:t>Pausar campañas en pérdida</a:t>
            </a:r>
          </a:p>
        </p:txBody>
      </p:sp>
      <p:sp>
        <p:nvSpPr>
          <p:cNvPr id="21" name="Google Shape;1392;p109">
            <a:extLst>
              <a:ext uri="{FF2B5EF4-FFF2-40B4-BE49-F238E27FC236}">
                <a16:creationId xmlns:a16="http://schemas.microsoft.com/office/drawing/2014/main" id="{5001517C-138E-3FE3-7866-322DEDDE778D}"/>
              </a:ext>
            </a:extLst>
          </p:cNvPr>
          <p:cNvSpPr txBox="1">
            <a:spLocks/>
          </p:cNvSpPr>
          <p:nvPr/>
        </p:nvSpPr>
        <p:spPr>
          <a:xfrm>
            <a:off x="5459368" y="1697323"/>
            <a:ext cx="3041483" cy="101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lnSpc>
                <a:spcPts val="1700"/>
              </a:lnSpc>
            </a:pPr>
            <a:r>
              <a:rPr lang="en-US" dirty="0" err="1">
                <a:solidFill>
                  <a:srgbClr val="5A5A5A"/>
                </a:solidFill>
              </a:rPr>
              <a:t>Revisar</a:t>
            </a:r>
            <a:r>
              <a:rPr lang="en-US" dirty="0">
                <a:solidFill>
                  <a:srgbClr val="5A5A5A"/>
                </a:solidFill>
              </a:rPr>
              <a:t> y </a:t>
            </a:r>
            <a:r>
              <a:rPr lang="en-US" dirty="0" err="1">
                <a:solidFill>
                  <a:srgbClr val="5A5A5A"/>
                </a:solidFill>
              </a:rPr>
              <a:t>detener</a:t>
            </a:r>
            <a:r>
              <a:rPr lang="en-US" dirty="0">
                <a:solidFill>
                  <a:srgbClr val="5A5A5A"/>
                </a:solidFill>
              </a:rPr>
              <a:t> las 1,812 </a:t>
            </a:r>
            <a:r>
              <a:rPr lang="en-US" dirty="0" err="1">
                <a:solidFill>
                  <a:srgbClr val="5A5A5A"/>
                </a:solidFill>
              </a:rPr>
              <a:t>campañas</a:t>
            </a:r>
            <a:r>
              <a:rPr lang="en-US" dirty="0">
                <a:solidFill>
                  <a:srgbClr val="5A5A5A"/>
                </a:solidFill>
              </a:rPr>
              <a:t> con </a:t>
            </a:r>
            <a:r>
              <a:rPr lang="en-US" dirty="0" err="1">
                <a:solidFill>
                  <a:srgbClr val="5A5A5A"/>
                </a:solidFill>
              </a:rPr>
              <a:t>utilidad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negativa</a:t>
            </a:r>
            <a:r>
              <a:rPr lang="en-US" dirty="0">
                <a:solidFill>
                  <a:srgbClr val="5A5A5A"/>
                </a:solidFill>
              </a:rPr>
              <a:t>, </a:t>
            </a:r>
            <a:r>
              <a:rPr lang="en-US" dirty="0" err="1">
                <a:solidFill>
                  <a:srgbClr val="5A5A5A"/>
                </a:solidFill>
              </a:rPr>
              <a:t>empezando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por</a:t>
            </a:r>
            <a:r>
              <a:rPr lang="en-US" dirty="0">
                <a:solidFill>
                  <a:srgbClr val="5A5A5A"/>
                </a:solidFill>
              </a:rPr>
              <a:t> las de mayor </a:t>
            </a:r>
            <a:r>
              <a:rPr lang="en-US" dirty="0" err="1">
                <a:solidFill>
                  <a:srgbClr val="5A5A5A"/>
                </a:solidFill>
              </a:rPr>
              <a:t>gasto</a:t>
            </a:r>
            <a:r>
              <a:rPr lang="en-US" dirty="0">
                <a:solidFill>
                  <a:srgbClr val="5A5A5A"/>
                </a:solidFill>
              </a:rPr>
              <a:t>.</a:t>
            </a:r>
            <a:endParaRPr lang="en-US" dirty="0"/>
          </a:p>
        </p:txBody>
      </p:sp>
      <p:sp>
        <p:nvSpPr>
          <p:cNvPr id="22" name="Google Shape;1398;p109">
            <a:extLst>
              <a:ext uri="{FF2B5EF4-FFF2-40B4-BE49-F238E27FC236}">
                <a16:creationId xmlns:a16="http://schemas.microsoft.com/office/drawing/2014/main" id="{5CB9B802-5573-A9C8-E6F5-3B9C1415F5C4}"/>
              </a:ext>
            </a:extLst>
          </p:cNvPr>
          <p:cNvSpPr txBox="1">
            <a:spLocks/>
          </p:cNvSpPr>
          <p:nvPr/>
        </p:nvSpPr>
        <p:spPr>
          <a:xfrm>
            <a:off x="4572000" y="1869577"/>
            <a:ext cx="88395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Vidaloka"/>
              <a:buNone/>
              <a:defRPr sz="3800" b="0" i="0" u="none" strike="noStrike" cap="none" spc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2</a:t>
            </a:r>
          </a:p>
        </p:txBody>
      </p:sp>
      <p:sp>
        <p:nvSpPr>
          <p:cNvPr id="23" name="Google Shape;1391;p109">
            <a:extLst>
              <a:ext uri="{FF2B5EF4-FFF2-40B4-BE49-F238E27FC236}">
                <a16:creationId xmlns:a16="http://schemas.microsoft.com/office/drawing/2014/main" id="{79073A0C-F196-4FAE-937B-8FBC088B63E5}"/>
              </a:ext>
            </a:extLst>
          </p:cNvPr>
          <p:cNvSpPr txBox="1">
            <a:spLocks/>
          </p:cNvSpPr>
          <p:nvPr/>
        </p:nvSpPr>
        <p:spPr>
          <a:xfrm>
            <a:off x="504699" y="2893512"/>
            <a:ext cx="3806819" cy="53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400" b="0" i="0" u="none" strike="noStrike" cap="none" spc="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s-MX" dirty="0"/>
              <a:t>Investigar el segmento 55+</a:t>
            </a:r>
          </a:p>
        </p:txBody>
      </p:sp>
      <p:sp>
        <p:nvSpPr>
          <p:cNvPr id="24" name="Google Shape;1392;p109">
            <a:extLst>
              <a:ext uri="{FF2B5EF4-FFF2-40B4-BE49-F238E27FC236}">
                <a16:creationId xmlns:a16="http://schemas.microsoft.com/office/drawing/2014/main" id="{B726A080-449E-195F-F3B4-89D129080AF8}"/>
              </a:ext>
            </a:extLst>
          </p:cNvPr>
          <p:cNvSpPr txBox="1">
            <a:spLocks/>
          </p:cNvSpPr>
          <p:nvPr/>
        </p:nvSpPr>
        <p:spPr>
          <a:xfrm>
            <a:off x="887368" y="3376828"/>
            <a:ext cx="3041483" cy="101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lnSpc>
                <a:spcPts val="1700"/>
              </a:lnSpc>
            </a:pPr>
            <a:r>
              <a:rPr lang="en-US" dirty="0" err="1">
                <a:solidFill>
                  <a:srgbClr val="5A5A5A"/>
                </a:solidFill>
              </a:rPr>
              <a:t>Analizar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creatividad</a:t>
            </a:r>
            <a:r>
              <a:rPr lang="en-US" dirty="0">
                <a:solidFill>
                  <a:srgbClr val="5A5A5A"/>
                </a:solidFill>
              </a:rPr>
              <a:t> y </a:t>
            </a:r>
            <a:r>
              <a:rPr lang="en-US" dirty="0" err="1">
                <a:solidFill>
                  <a:srgbClr val="5A5A5A"/>
                </a:solidFill>
              </a:rPr>
              <a:t>segmentación</a:t>
            </a:r>
            <a:r>
              <a:rPr lang="en-US" dirty="0">
                <a:solidFill>
                  <a:srgbClr val="5A5A5A"/>
                </a:solidFill>
              </a:rPr>
              <a:t> antes de </a:t>
            </a:r>
            <a:r>
              <a:rPr lang="en-US" dirty="0" err="1">
                <a:solidFill>
                  <a:srgbClr val="5A5A5A"/>
                </a:solidFill>
              </a:rPr>
              <a:t>mantener</a:t>
            </a:r>
            <a:r>
              <a:rPr lang="en-US" dirty="0">
                <a:solidFill>
                  <a:srgbClr val="5A5A5A"/>
                </a:solidFill>
              </a:rPr>
              <a:t> el </a:t>
            </a:r>
            <a:r>
              <a:rPr lang="en-US" dirty="0" err="1">
                <a:solidFill>
                  <a:srgbClr val="5A5A5A"/>
                </a:solidFill>
              </a:rPr>
              <a:t>mismo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nivel</a:t>
            </a:r>
            <a:r>
              <a:rPr lang="en-US" dirty="0">
                <a:solidFill>
                  <a:srgbClr val="5A5A5A"/>
                </a:solidFill>
              </a:rPr>
              <a:t> de </a:t>
            </a:r>
            <a:r>
              <a:rPr lang="en-US" dirty="0" err="1">
                <a:solidFill>
                  <a:srgbClr val="5A5A5A"/>
                </a:solidFill>
              </a:rPr>
              <a:t>inversión</a:t>
            </a:r>
            <a:r>
              <a:rPr lang="en-US" dirty="0">
                <a:solidFill>
                  <a:srgbClr val="5A5A5A"/>
                </a:solidFill>
              </a:rPr>
              <a:t>.</a:t>
            </a:r>
            <a:endParaRPr lang="en-US" dirty="0"/>
          </a:p>
        </p:txBody>
      </p:sp>
      <p:sp>
        <p:nvSpPr>
          <p:cNvPr id="25" name="Google Shape;1398;p109">
            <a:extLst>
              <a:ext uri="{FF2B5EF4-FFF2-40B4-BE49-F238E27FC236}">
                <a16:creationId xmlns:a16="http://schemas.microsoft.com/office/drawing/2014/main" id="{1CCFFDE7-E0DB-551D-D207-86868E000DC4}"/>
              </a:ext>
            </a:extLst>
          </p:cNvPr>
          <p:cNvSpPr txBox="1">
            <a:spLocks/>
          </p:cNvSpPr>
          <p:nvPr/>
        </p:nvSpPr>
        <p:spPr>
          <a:xfrm>
            <a:off x="0" y="3549082"/>
            <a:ext cx="88395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Vidaloka"/>
              <a:buNone/>
              <a:defRPr sz="3800" b="0" i="0" u="none" strike="noStrike" cap="none" spc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3</a:t>
            </a:r>
          </a:p>
        </p:txBody>
      </p:sp>
      <p:sp>
        <p:nvSpPr>
          <p:cNvPr id="26" name="Google Shape;1391;p109">
            <a:extLst>
              <a:ext uri="{FF2B5EF4-FFF2-40B4-BE49-F238E27FC236}">
                <a16:creationId xmlns:a16="http://schemas.microsoft.com/office/drawing/2014/main" id="{B1FB31AC-25BF-4A6E-F6C3-E78A3475CE85}"/>
              </a:ext>
            </a:extLst>
          </p:cNvPr>
          <p:cNvSpPr txBox="1">
            <a:spLocks/>
          </p:cNvSpPr>
          <p:nvPr/>
        </p:nvSpPr>
        <p:spPr>
          <a:xfrm>
            <a:off x="4930486" y="2869484"/>
            <a:ext cx="4078047" cy="401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400" b="0" i="0" u="none" strike="noStrike" cap="none" spc="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s-MX" dirty="0"/>
              <a:t>Automatizar el pipeline</a:t>
            </a:r>
          </a:p>
        </p:txBody>
      </p:sp>
      <p:sp>
        <p:nvSpPr>
          <p:cNvPr id="27" name="Google Shape;1392;p109">
            <a:extLst>
              <a:ext uri="{FF2B5EF4-FFF2-40B4-BE49-F238E27FC236}">
                <a16:creationId xmlns:a16="http://schemas.microsoft.com/office/drawing/2014/main" id="{F56727EC-3F99-A6BF-1D72-3DBCB9F650EB}"/>
              </a:ext>
            </a:extLst>
          </p:cNvPr>
          <p:cNvSpPr txBox="1">
            <a:spLocks/>
          </p:cNvSpPr>
          <p:nvPr/>
        </p:nvSpPr>
        <p:spPr>
          <a:xfrm>
            <a:off x="5459368" y="3376828"/>
            <a:ext cx="3041483" cy="101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lnSpc>
                <a:spcPts val="1700"/>
              </a:lnSpc>
            </a:pPr>
            <a:r>
              <a:rPr lang="en-US" dirty="0" err="1">
                <a:solidFill>
                  <a:srgbClr val="5A5A5A"/>
                </a:solidFill>
              </a:rPr>
              <a:t>Convertir</a:t>
            </a:r>
            <a:r>
              <a:rPr lang="en-US" dirty="0">
                <a:solidFill>
                  <a:srgbClr val="5A5A5A"/>
                </a:solidFill>
              </a:rPr>
              <a:t> la </a:t>
            </a:r>
            <a:r>
              <a:rPr lang="en-US" dirty="0" err="1">
                <a:solidFill>
                  <a:srgbClr val="5A5A5A"/>
                </a:solidFill>
              </a:rPr>
              <a:t>limpieza</a:t>
            </a:r>
            <a:r>
              <a:rPr lang="en-US" dirty="0">
                <a:solidFill>
                  <a:srgbClr val="5A5A5A"/>
                </a:solidFill>
              </a:rPr>
              <a:t> y el </a:t>
            </a:r>
            <a:r>
              <a:rPr lang="en-US" dirty="0" err="1">
                <a:solidFill>
                  <a:srgbClr val="5A5A5A"/>
                </a:solidFill>
              </a:rPr>
              <a:t>cálculo</a:t>
            </a:r>
            <a:r>
              <a:rPr lang="en-US" dirty="0">
                <a:solidFill>
                  <a:srgbClr val="5A5A5A"/>
                </a:solidFill>
              </a:rPr>
              <a:t> de </a:t>
            </a:r>
            <a:r>
              <a:rPr lang="en-US" dirty="0" err="1">
                <a:solidFill>
                  <a:srgbClr val="5A5A5A"/>
                </a:solidFill>
              </a:rPr>
              <a:t>métricas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en</a:t>
            </a:r>
            <a:r>
              <a:rPr lang="en-US" dirty="0">
                <a:solidFill>
                  <a:srgbClr val="5A5A5A"/>
                </a:solidFill>
              </a:rPr>
              <a:t> un </a:t>
            </a:r>
            <a:r>
              <a:rPr lang="en-US" dirty="0" err="1">
                <a:solidFill>
                  <a:srgbClr val="5A5A5A"/>
                </a:solidFill>
              </a:rPr>
              <a:t>proceso</a:t>
            </a:r>
            <a:r>
              <a:rPr lang="en-US" dirty="0">
                <a:solidFill>
                  <a:srgbClr val="5A5A5A"/>
                </a:solidFill>
              </a:rPr>
              <a:t> </a:t>
            </a:r>
            <a:r>
              <a:rPr lang="en-US" dirty="0" err="1">
                <a:solidFill>
                  <a:srgbClr val="5A5A5A"/>
                </a:solidFill>
              </a:rPr>
              <a:t>recurrente</a:t>
            </a:r>
            <a:r>
              <a:rPr lang="en-US" dirty="0">
                <a:solidFill>
                  <a:srgbClr val="5A5A5A"/>
                </a:solidFill>
              </a:rPr>
              <a:t> y </a:t>
            </a:r>
            <a:r>
              <a:rPr lang="en-US" dirty="0" err="1">
                <a:solidFill>
                  <a:srgbClr val="5A5A5A"/>
                </a:solidFill>
              </a:rPr>
              <a:t>monitoreado</a:t>
            </a:r>
            <a:r>
              <a:rPr lang="en-US" dirty="0">
                <a:solidFill>
                  <a:srgbClr val="5A5A5A"/>
                </a:solidFill>
              </a:rPr>
              <a:t>.</a:t>
            </a:r>
            <a:endParaRPr lang="en-US" dirty="0"/>
          </a:p>
        </p:txBody>
      </p:sp>
      <p:sp>
        <p:nvSpPr>
          <p:cNvPr id="28" name="Google Shape;1398;p109">
            <a:extLst>
              <a:ext uri="{FF2B5EF4-FFF2-40B4-BE49-F238E27FC236}">
                <a16:creationId xmlns:a16="http://schemas.microsoft.com/office/drawing/2014/main" id="{4CE347D5-1919-FCE5-4C43-200014EC9371}"/>
              </a:ext>
            </a:extLst>
          </p:cNvPr>
          <p:cNvSpPr txBox="1">
            <a:spLocks/>
          </p:cNvSpPr>
          <p:nvPr/>
        </p:nvSpPr>
        <p:spPr>
          <a:xfrm>
            <a:off x="4572000" y="3549082"/>
            <a:ext cx="88395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Vidaloka"/>
              <a:buNone/>
              <a:defRPr sz="3800" b="0" i="0" u="none" strike="noStrike" cap="none" spc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Gracias!</a:t>
            </a:r>
            <a:endParaRPr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845550" y="2774025"/>
            <a:ext cx="763805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ts val="2200"/>
              </a:lnSpc>
            </a:pPr>
            <a:r>
              <a:rPr lang="en-US" sz="1800" dirty="0">
                <a:solidFill>
                  <a:schemeClr val="accent6"/>
                </a:solidFill>
              </a:rPr>
              <a:t>El </a:t>
            </a:r>
            <a:r>
              <a:rPr lang="en-US" sz="1800" dirty="0" err="1">
                <a:solidFill>
                  <a:schemeClr val="accent6"/>
                </a:solidFill>
              </a:rPr>
              <a:t>procesamiento</a:t>
            </a:r>
            <a:r>
              <a:rPr lang="en-US" sz="1800" dirty="0">
                <a:solidFill>
                  <a:schemeClr val="accent6"/>
                </a:solidFill>
              </a:rPr>
              <a:t> del dataset </a:t>
            </a:r>
            <a:r>
              <a:rPr lang="en-US" sz="1800" dirty="0" err="1">
                <a:solidFill>
                  <a:schemeClr val="accent6"/>
                </a:solidFill>
              </a:rPr>
              <a:t>permitió</a:t>
            </a:r>
            <a:r>
              <a:rPr lang="en-US" sz="1800" dirty="0">
                <a:solidFill>
                  <a:schemeClr val="accent6"/>
                </a:solidFill>
              </a:rPr>
              <a:t> pasar de </a:t>
            </a:r>
            <a:r>
              <a:rPr lang="en-US" sz="1800" dirty="0" err="1">
                <a:solidFill>
                  <a:schemeClr val="accent6"/>
                </a:solidFill>
              </a:rPr>
              <a:t>datos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inconsistentes</a:t>
            </a:r>
            <a:r>
              <a:rPr lang="en-US" sz="1800" dirty="0">
                <a:solidFill>
                  <a:schemeClr val="accent6"/>
                </a:solidFill>
              </a:rPr>
              <a:t> a insights </a:t>
            </a:r>
            <a:r>
              <a:rPr lang="en-US" sz="1800" dirty="0" err="1">
                <a:solidFill>
                  <a:schemeClr val="accent6"/>
                </a:solidFill>
              </a:rPr>
              <a:t>accionables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sobre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en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qué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plataformas</a:t>
            </a:r>
            <a:r>
              <a:rPr lang="en-US" sz="1800" dirty="0">
                <a:solidFill>
                  <a:schemeClr val="accent6"/>
                </a:solidFill>
              </a:rPr>
              <a:t>, </a:t>
            </a:r>
            <a:r>
              <a:rPr lang="en-US" sz="1800" dirty="0" err="1">
                <a:solidFill>
                  <a:schemeClr val="accent6"/>
                </a:solidFill>
              </a:rPr>
              <a:t>clientes</a:t>
            </a:r>
            <a:r>
              <a:rPr lang="en-US" sz="1800" dirty="0">
                <a:solidFill>
                  <a:schemeClr val="accent6"/>
                </a:solidFill>
              </a:rPr>
              <a:t> y </a:t>
            </a:r>
            <a:r>
              <a:rPr lang="en-US" sz="1800" dirty="0" err="1">
                <a:solidFill>
                  <a:schemeClr val="accent6"/>
                </a:solidFill>
              </a:rPr>
              <a:t>segmentos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conviene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invertir</a:t>
            </a:r>
            <a:r>
              <a:rPr lang="en-US" sz="1800" dirty="0">
                <a:solidFill>
                  <a:schemeClr val="accent6"/>
                </a:solidFill>
              </a:rPr>
              <a:t> el </a:t>
            </a:r>
            <a:r>
              <a:rPr lang="en-US" sz="1800" dirty="0" err="1">
                <a:solidFill>
                  <a:schemeClr val="accent6"/>
                </a:solidFill>
              </a:rPr>
              <a:t>presupuesto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  <a:r>
              <a:rPr lang="en-US" sz="1800" dirty="0" err="1">
                <a:solidFill>
                  <a:schemeClr val="accent6"/>
                </a:solidFill>
              </a:rPr>
              <a:t>publicitario</a:t>
            </a:r>
            <a:r>
              <a:rPr lang="en-US" sz="1800" dirty="0">
                <a:solidFill>
                  <a:schemeClr val="accent6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484</Words>
  <Application>Microsoft Macintosh PowerPoint</Application>
  <PresentationFormat>Presentación en pantalla (16:9)</PresentationFormat>
  <Paragraphs>78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Crimson Text</vt:lpstr>
      <vt:lpstr>Lato</vt:lpstr>
      <vt:lpstr>Montserrat</vt:lpstr>
      <vt:lpstr>Vidaloka</vt:lpstr>
      <vt:lpstr>Minimalist Business Slides XL by Slidesgo</vt:lpstr>
      <vt:lpstr>Análisis de Campañas de Marketing Digital</vt:lpstr>
      <vt:lpstr>La problemática</vt:lpstr>
      <vt:lpstr>Los datos: de crudos a confiables</vt:lpstr>
      <vt:lpstr>Importación y exploración</vt:lpstr>
      <vt:lpstr>¿Qué plataforma da mejor retorno?</vt:lpstr>
      <vt:lpstr>Salud general del portafolio de campañas</vt:lpstr>
      <vt:lpstr>¿A qué audiencia le hablamos major?</vt:lpstr>
      <vt:lpstr>Recomendaciones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Dayhana Erendida Quintero Cordova</cp:lastModifiedBy>
  <cp:revision>3</cp:revision>
  <dcterms:modified xsi:type="dcterms:W3CDTF">2026-08-05T00:02:09Z</dcterms:modified>
</cp:coreProperties>
</file>